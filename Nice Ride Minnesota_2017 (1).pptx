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Amatic SC"/>
      <p:regular r:id="rId21"/>
      <p:bold r:id="rId22"/>
    </p:embeddedFont>
    <p:embeddedFont>
      <p:font typeface="Source Code Pr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maticSC-bold.fntdata"/><Relationship Id="rId21" Type="http://schemas.openxmlformats.org/officeDocument/2006/relationships/font" Target="fonts/AmaticSC-regular.fntdata"/><Relationship Id="rId24" Type="http://schemas.openxmlformats.org/officeDocument/2006/relationships/font" Target="fonts/SourceCodePro-bold.fntdata"/><Relationship Id="rId23" Type="http://schemas.openxmlformats.org/officeDocument/2006/relationships/font" Target="fonts/SourceCodePr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CodePro-boldItalic.fntdata"/><Relationship Id="rId25"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7938142f3df8d7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7938142f3df8d7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7938142f3df8d7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h7938142f3df8d7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7938142f3df8d78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7938142f3df8d78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49d35025d40e68c_3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349d35025d40e68c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349d35025d40e68c_3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349d35025d40e68c_3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7938142f3df8d78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7938142f3df8d78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349d35025d40e68c_3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349d35025d40e68c_3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7938142f3df8d78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7938142f3df8d78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349d35025d40e68c_3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349d35025d40e68c_3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349d35025d40e68c_3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349d35025d40e68c_3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349d35025d40e68c_3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349d35025d40e68c_3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7938142f3df8d78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7938142f3df8d78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349d35025d40e68c_3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349d35025d40e68c_3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7938142f3df8d78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7938142f3df8d78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76650" y="822625"/>
            <a:ext cx="8390700" cy="1560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Nice Ride Minnesota 2017</a:t>
            </a:r>
            <a:endParaRPr/>
          </a:p>
        </p:txBody>
      </p:sp>
      <p:sp>
        <p:nvSpPr>
          <p:cNvPr id="57" name="Google Shape;57;p13"/>
          <p:cNvSpPr txBox="1"/>
          <p:nvPr>
            <p:ph idx="1" type="subTitle"/>
          </p:nvPr>
        </p:nvSpPr>
        <p:spPr>
          <a:xfrm>
            <a:off x="441600" y="3890400"/>
            <a:ext cx="8390700" cy="884700"/>
          </a:xfrm>
          <a:prstGeom prst="rect">
            <a:avLst/>
          </a:prstGeom>
        </p:spPr>
        <p:txBody>
          <a:bodyPr anchorCtr="0" anchor="ctr" bIns="91425" lIns="91425" spcFirstLastPara="1" rIns="91425" wrap="square" tIns="91425">
            <a:normAutofit fontScale="47500" lnSpcReduction="20000"/>
          </a:bodyPr>
          <a:lstStyle/>
          <a:p>
            <a:pPr indent="0" lvl="0" marL="0" rtl="0" algn="ctr">
              <a:spcBef>
                <a:spcPts val="0"/>
              </a:spcBef>
              <a:spcAft>
                <a:spcPts val="0"/>
              </a:spcAft>
              <a:buNone/>
            </a:pPr>
            <a:r>
              <a:rPr lang="en-GB" sz="4808"/>
              <a:t>DSB3</a:t>
            </a:r>
            <a:endParaRPr sz="4808"/>
          </a:p>
          <a:p>
            <a:pPr indent="0" lvl="0" marL="0" rtl="0" algn="ctr">
              <a:spcBef>
                <a:spcPts val="0"/>
              </a:spcBef>
              <a:spcAft>
                <a:spcPts val="0"/>
              </a:spcAft>
              <a:buNone/>
            </a:pPr>
            <a:r>
              <a:rPr lang="en-GB" sz="4808"/>
              <a:t>Done: WADEEA </a:t>
            </a:r>
            <a:endParaRPr sz="4808"/>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4867"/>
              <a:t>Introduction:</a:t>
            </a:r>
            <a:r>
              <a:rPr lang="en-GB"/>
              <a:t> </a:t>
            </a:r>
            <a:endParaRPr/>
          </a:p>
        </p:txBody>
      </p:sp>
      <p:sp>
        <p:nvSpPr>
          <p:cNvPr id="63" name="Google Shape;63;p14"/>
          <p:cNvSpPr txBox="1"/>
          <p:nvPr>
            <p:ph idx="1" type="body"/>
          </p:nvPr>
        </p:nvSpPr>
        <p:spPr>
          <a:xfrm>
            <a:off x="311700" y="1883850"/>
            <a:ext cx="8520600" cy="2091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1018"/>
              <a:buNone/>
            </a:pPr>
            <a:r>
              <a:rPr lang="en-GB" sz="2365"/>
              <a:t>This project will analyze trip, station, and weather data to identify the periods and stations with the highest demand, compare demand with station capacity, and examine how weather affects bike usage</a:t>
            </a:r>
            <a:endParaRPr sz="236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4380"/>
              <a:t>Problem S</a:t>
            </a:r>
            <a:r>
              <a:rPr lang="en-GB" sz="4380"/>
              <a:t>tatement</a:t>
            </a:r>
            <a:r>
              <a:rPr lang="en-GB" sz="4380"/>
              <a:t>: </a:t>
            </a:r>
            <a:endParaRPr sz="4380"/>
          </a:p>
        </p:txBody>
      </p:sp>
      <p:sp>
        <p:nvSpPr>
          <p:cNvPr id="69" name="Google Shape;69;p15"/>
          <p:cNvSpPr txBox="1"/>
          <p:nvPr>
            <p:ph idx="1" type="body"/>
          </p:nvPr>
        </p:nvSpPr>
        <p:spPr>
          <a:xfrm>
            <a:off x="311700" y="1764600"/>
            <a:ext cx="8610000" cy="2400900"/>
          </a:xfrm>
          <a:prstGeom prst="rect">
            <a:avLst/>
          </a:prstGeom>
        </p:spPr>
        <p:txBody>
          <a:bodyPr anchorCtr="0" anchor="t" bIns="91425" lIns="91425" spcFirstLastPara="1" rIns="91425" wrap="square" tIns="91425">
            <a:normAutofit fontScale="47500" lnSpcReduction="20000"/>
          </a:bodyPr>
          <a:lstStyle/>
          <a:p>
            <a:pPr indent="0" lvl="0" marL="0" rtl="0" algn="l">
              <a:spcBef>
                <a:spcPts val="1200"/>
              </a:spcBef>
              <a:spcAft>
                <a:spcPts val="0"/>
              </a:spcAft>
              <a:buNone/>
            </a:pPr>
            <a:r>
              <a:rPr lang="en-GB" sz="4266"/>
              <a:t>In </a:t>
            </a:r>
            <a:r>
              <a:rPr b="1" lang="en-GB" sz="4266">
                <a:solidFill>
                  <a:srgbClr val="000000"/>
                </a:solidFill>
              </a:rPr>
              <a:t>2017</a:t>
            </a:r>
            <a:r>
              <a:rPr lang="en-GB" sz="4266"/>
              <a:t>, Nice Ride Minnesota recorded </a:t>
            </a:r>
            <a:r>
              <a:rPr b="1" lang="en-GB" sz="4266">
                <a:solidFill>
                  <a:srgbClr val="000000"/>
                </a:solidFill>
              </a:rPr>
              <a:t>460,718</a:t>
            </a:r>
            <a:r>
              <a:rPr lang="en-GB" sz="4266"/>
              <a:t> bike trips across </a:t>
            </a:r>
            <a:r>
              <a:rPr b="1" lang="en-GB" sz="4266">
                <a:solidFill>
                  <a:srgbClr val="000000"/>
                </a:solidFill>
              </a:rPr>
              <a:t>202</a:t>
            </a:r>
            <a:r>
              <a:rPr lang="en-GB" sz="4266"/>
              <a:t> stations. Bike usage varied across different </a:t>
            </a:r>
            <a:r>
              <a:rPr b="1" lang="en-GB" sz="4266">
                <a:solidFill>
                  <a:srgbClr val="000000"/>
                </a:solidFill>
              </a:rPr>
              <a:t>times</a:t>
            </a:r>
            <a:r>
              <a:rPr lang="en-GB" sz="4266"/>
              <a:t>, </a:t>
            </a:r>
            <a:r>
              <a:rPr b="1" lang="en-GB" sz="4266">
                <a:solidFill>
                  <a:srgbClr val="000000"/>
                </a:solidFill>
              </a:rPr>
              <a:t>stations</a:t>
            </a:r>
            <a:r>
              <a:rPr lang="en-GB" sz="4266"/>
              <a:t>, </a:t>
            </a:r>
            <a:r>
              <a:rPr b="1" lang="en-GB" sz="4266">
                <a:solidFill>
                  <a:srgbClr val="000000"/>
                </a:solidFill>
              </a:rPr>
              <a:t>user types</a:t>
            </a:r>
            <a:r>
              <a:rPr lang="en-GB" sz="4266"/>
              <a:t>, </a:t>
            </a:r>
            <a:r>
              <a:rPr b="1" lang="en-GB" sz="4266">
                <a:solidFill>
                  <a:srgbClr val="000000"/>
                </a:solidFill>
              </a:rPr>
              <a:t>trip durations</a:t>
            </a:r>
            <a:r>
              <a:rPr lang="en-GB" sz="4266"/>
              <a:t>, and </a:t>
            </a:r>
            <a:r>
              <a:rPr b="1" lang="en-GB" sz="4266">
                <a:solidFill>
                  <a:srgbClr val="000000"/>
                </a:solidFill>
              </a:rPr>
              <a:t>weather</a:t>
            </a:r>
            <a:r>
              <a:rPr lang="en-GB" sz="4266"/>
              <a:t> conditions. Understanding these patterns can help identify periods of high demand, differences in user behavior.</a:t>
            </a:r>
            <a:endParaRPr sz="4266"/>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1956775" y="121200"/>
            <a:ext cx="5479200" cy="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900"/>
              <a:t>1a-How does bike demand change by month ?</a:t>
            </a:r>
            <a:endParaRPr sz="2900"/>
          </a:p>
        </p:txBody>
      </p:sp>
      <p:pic>
        <p:nvPicPr>
          <p:cNvPr id="75" name="Google Shape;75;p16" title="download.png"/>
          <p:cNvPicPr preferRelativeResize="0"/>
          <p:nvPr/>
        </p:nvPicPr>
        <p:blipFill>
          <a:blip r:embed="rId3">
            <a:alphaModFix/>
          </a:blip>
          <a:stretch>
            <a:fillRect/>
          </a:stretch>
        </p:blipFill>
        <p:spPr>
          <a:xfrm>
            <a:off x="155042" y="770115"/>
            <a:ext cx="5398223" cy="4233900"/>
          </a:xfrm>
          <a:prstGeom prst="rect">
            <a:avLst/>
          </a:prstGeom>
          <a:noFill/>
          <a:ln>
            <a:noFill/>
          </a:ln>
        </p:spPr>
      </p:pic>
      <p:sp>
        <p:nvSpPr>
          <p:cNvPr id="76" name="Google Shape;76;p16"/>
          <p:cNvSpPr txBox="1"/>
          <p:nvPr/>
        </p:nvSpPr>
        <p:spPr>
          <a:xfrm>
            <a:off x="5637500" y="1100100"/>
            <a:ext cx="3190800" cy="33657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0"/>
              </a:spcAft>
              <a:buNone/>
            </a:pPr>
            <a:r>
              <a:rPr lang="en-GB" sz="1800"/>
              <a:t>Bike demand increased from April to July and then started to decrease. July had the highest number of trips.</a:t>
            </a:r>
            <a:r>
              <a:rPr lang="en-GB" sz="1800"/>
              <a:t>This could be because people prefer cycling during the warm summer months</a:t>
            </a:r>
            <a:endParaRPr sz="1800"/>
          </a:p>
          <a:p>
            <a:pPr indent="0" lvl="0" marL="0" rtl="0" algn="l">
              <a:lnSpc>
                <a:spcPct val="142857"/>
              </a:lnSpc>
              <a:spcBef>
                <a:spcPts val="1100"/>
              </a:spcBef>
              <a:spcAft>
                <a:spcPts val="1100"/>
              </a:spcAft>
              <a:buNone/>
            </a:pPr>
            <a:r>
              <a:t/>
            </a:r>
            <a:endParaRPr b="1" sz="17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369100" y="293000"/>
            <a:ext cx="4590600" cy="79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990"/>
              <a:buFont typeface="Arial"/>
              <a:buNone/>
            </a:pPr>
            <a:r>
              <a:rPr lang="en-GB" sz="2900"/>
              <a:t>1B-How does bike demand change by day ?</a:t>
            </a:r>
            <a:endParaRPr sz="4900"/>
          </a:p>
        </p:txBody>
      </p:sp>
      <p:pic>
        <p:nvPicPr>
          <p:cNvPr id="82" name="Google Shape;82;p17" title="download.png"/>
          <p:cNvPicPr preferRelativeResize="0"/>
          <p:nvPr/>
        </p:nvPicPr>
        <p:blipFill>
          <a:blip r:embed="rId3">
            <a:alphaModFix/>
          </a:blip>
          <a:stretch>
            <a:fillRect/>
          </a:stretch>
        </p:blipFill>
        <p:spPr>
          <a:xfrm>
            <a:off x="339573" y="1195614"/>
            <a:ext cx="5160200" cy="3192350"/>
          </a:xfrm>
          <a:prstGeom prst="rect">
            <a:avLst/>
          </a:prstGeom>
          <a:noFill/>
          <a:ln>
            <a:noFill/>
          </a:ln>
        </p:spPr>
      </p:pic>
      <p:sp>
        <p:nvSpPr>
          <p:cNvPr id="83" name="Google Shape;83;p17"/>
          <p:cNvSpPr txBox="1"/>
          <p:nvPr/>
        </p:nvSpPr>
        <p:spPr>
          <a:xfrm>
            <a:off x="5707250" y="1195625"/>
            <a:ext cx="3295200" cy="21900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600"/>
              <a:t>Saturday had the highest bike demand, while weekday demand was lower. This could be because people have more free time on weekends to ride bikes.</a:t>
            </a:r>
            <a:endParaRPr b="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2181575" y="216650"/>
            <a:ext cx="5478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lang="en-GB" sz="2700"/>
              <a:t>1C-How does bike demand change by hour?</a:t>
            </a:r>
            <a:endParaRPr sz="4700"/>
          </a:p>
        </p:txBody>
      </p:sp>
      <p:pic>
        <p:nvPicPr>
          <p:cNvPr id="89" name="Google Shape;89;p18" title="download.png"/>
          <p:cNvPicPr preferRelativeResize="0"/>
          <p:nvPr/>
        </p:nvPicPr>
        <p:blipFill>
          <a:blip r:embed="rId3">
            <a:alphaModFix/>
          </a:blip>
          <a:stretch>
            <a:fillRect/>
          </a:stretch>
        </p:blipFill>
        <p:spPr>
          <a:xfrm>
            <a:off x="-1" y="821350"/>
            <a:ext cx="5094674" cy="4024063"/>
          </a:xfrm>
          <a:prstGeom prst="rect">
            <a:avLst/>
          </a:prstGeom>
          <a:noFill/>
          <a:ln>
            <a:noFill/>
          </a:ln>
        </p:spPr>
      </p:pic>
      <p:sp>
        <p:nvSpPr>
          <p:cNvPr id="90" name="Google Shape;90;p18"/>
          <p:cNvSpPr txBox="1"/>
          <p:nvPr/>
        </p:nvSpPr>
        <p:spPr>
          <a:xfrm>
            <a:off x="5422450" y="1351350"/>
            <a:ext cx="3545400" cy="24408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Bike demand increased throughout the day and reached its highest level at 5 PM. After that, demand started to decrease during the evening hours.</a:t>
            </a:r>
            <a:endParaRPr b="1"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2341800" y="267900"/>
            <a:ext cx="54369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700"/>
              <a:t>2A-Which stations have the highest </a:t>
            </a:r>
            <a:r>
              <a:rPr lang="en-GB" sz="2700"/>
              <a:t>bike demand</a:t>
            </a:r>
            <a:r>
              <a:rPr lang="en-GB" sz="2700"/>
              <a:t>?</a:t>
            </a:r>
            <a:endParaRPr sz="2700"/>
          </a:p>
        </p:txBody>
      </p:sp>
      <p:pic>
        <p:nvPicPr>
          <p:cNvPr id="96" name="Google Shape;96;p19" title="download.png"/>
          <p:cNvPicPr preferRelativeResize="0"/>
          <p:nvPr/>
        </p:nvPicPr>
        <p:blipFill>
          <a:blip r:embed="rId3">
            <a:alphaModFix/>
          </a:blip>
          <a:stretch>
            <a:fillRect/>
          </a:stretch>
        </p:blipFill>
        <p:spPr>
          <a:xfrm>
            <a:off x="0" y="981600"/>
            <a:ext cx="5881275" cy="3859675"/>
          </a:xfrm>
          <a:prstGeom prst="rect">
            <a:avLst/>
          </a:prstGeom>
          <a:noFill/>
          <a:ln>
            <a:noFill/>
          </a:ln>
        </p:spPr>
      </p:pic>
      <p:sp>
        <p:nvSpPr>
          <p:cNvPr id="97" name="Google Shape;97;p19"/>
          <p:cNvSpPr txBox="1"/>
          <p:nvPr/>
        </p:nvSpPr>
        <p:spPr>
          <a:xfrm>
            <a:off x="5986225" y="1682625"/>
            <a:ext cx="3312900" cy="20451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Lake Street &amp; Knox Ave S recorded the highest demand due to its location near popular destinations and high-traffic areas</a:t>
            </a:r>
            <a:r>
              <a:rPr b="1" lang="en-GB" sz="1050"/>
              <a:t>.</a:t>
            </a:r>
            <a:endParaRPr b="1" sz="10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2216100" y="209525"/>
            <a:ext cx="5112600" cy="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580"/>
              <a:t>2B-Which stations have the  lowest bike demand?</a:t>
            </a:r>
            <a:endParaRPr sz="3300"/>
          </a:p>
        </p:txBody>
      </p:sp>
      <p:pic>
        <p:nvPicPr>
          <p:cNvPr id="103" name="Google Shape;103;p20" title="download.png"/>
          <p:cNvPicPr preferRelativeResize="0"/>
          <p:nvPr/>
        </p:nvPicPr>
        <p:blipFill>
          <a:blip r:embed="rId3">
            <a:alphaModFix/>
          </a:blip>
          <a:stretch>
            <a:fillRect/>
          </a:stretch>
        </p:blipFill>
        <p:spPr>
          <a:xfrm>
            <a:off x="359375" y="990875"/>
            <a:ext cx="5283551" cy="3920150"/>
          </a:xfrm>
          <a:prstGeom prst="rect">
            <a:avLst/>
          </a:prstGeom>
          <a:noFill/>
          <a:ln>
            <a:noFill/>
          </a:ln>
        </p:spPr>
      </p:pic>
      <p:sp>
        <p:nvSpPr>
          <p:cNvPr id="104" name="Google Shape;104;p20"/>
          <p:cNvSpPr txBox="1"/>
          <p:nvPr/>
        </p:nvSpPr>
        <p:spPr>
          <a:xfrm>
            <a:off x="5720842" y="1351350"/>
            <a:ext cx="3492900" cy="24408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NE Central Ave &amp; NE 14th Ave had the lowest bike demand because it is located in a less active area with fewer riders and destinations compared to other stations.</a:t>
            </a:r>
            <a:endParaRPr b="1"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2066738" y="211925"/>
            <a:ext cx="4838100" cy="80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700"/>
              <a:t>3-How does weather affect daily bike demand?</a:t>
            </a:r>
            <a:endParaRPr sz="2700"/>
          </a:p>
        </p:txBody>
      </p:sp>
      <p:pic>
        <p:nvPicPr>
          <p:cNvPr id="110" name="Google Shape;110;p21" title="download.png"/>
          <p:cNvPicPr preferRelativeResize="0"/>
          <p:nvPr/>
        </p:nvPicPr>
        <p:blipFill>
          <a:blip r:embed="rId3">
            <a:alphaModFix/>
          </a:blip>
          <a:stretch>
            <a:fillRect/>
          </a:stretch>
        </p:blipFill>
        <p:spPr>
          <a:xfrm>
            <a:off x="320253" y="1040150"/>
            <a:ext cx="4931072" cy="3783700"/>
          </a:xfrm>
          <a:prstGeom prst="rect">
            <a:avLst/>
          </a:prstGeom>
          <a:noFill/>
          <a:ln>
            <a:noFill/>
          </a:ln>
        </p:spPr>
      </p:pic>
      <p:sp>
        <p:nvSpPr>
          <p:cNvPr id="111" name="Google Shape;111;p21"/>
          <p:cNvSpPr txBox="1"/>
          <p:nvPr/>
        </p:nvSpPr>
        <p:spPr>
          <a:xfrm>
            <a:off x="5563800" y="1534325"/>
            <a:ext cx="3580200" cy="24408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Bike demand increased as temperature </a:t>
            </a:r>
            <a:r>
              <a:rPr b="1" lang="en-GB" sz="1800"/>
              <a:t>increases</a:t>
            </a:r>
            <a:r>
              <a:rPr b="1" lang="en-GB" sz="1800"/>
              <a:t>. Warmer weather encouraged more people to use bikes, resulting in a higher number of trips.</a:t>
            </a:r>
            <a:endParaRPr b="1"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1905300" y="292925"/>
            <a:ext cx="5333400" cy="72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600"/>
              <a:t>4-</a:t>
            </a:r>
            <a:r>
              <a:rPr lang="en-GB" sz="2600"/>
              <a:t> Do members and casual users use bikes differently?</a:t>
            </a:r>
            <a:endParaRPr sz="2600"/>
          </a:p>
        </p:txBody>
      </p:sp>
      <p:pic>
        <p:nvPicPr>
          <p:cNvPr id="117" name="Google Shape;117;p22" title="download.png"/>
          <p:cNvPicPr preferRelativeResize="0"/>
          <p:nvPr/>
        </p:nvPicPr>
        <p:blipFill>
          <a:blip r:embed="rId3">
            <a:alphaModFix/>
          </a:blip>
          <a:stretch>
            <a:fillRect/>
          </a:stretch>
        </p:blipFill>
        <p:spPr>
          <a:xfrm>
            <a:off x="344825" y="921625"/>
            <a:ext cx="5333400" cy="3989400"/>
          </a:xfrm>
          <a:prstGeom prst="rect">
            <a:avLst/>
          </a:prstGeom>
          <a:noFill/>
          <a:ln>
            <a:noFill/>
          </a:ln>
        </p:spPr>
      </p:pic>
      <p:sp>
        <p:nvSpPr>
          <p:cNvPr id="118" name="Google Shape;118;p22"/>
          <p:cNvSpPr txBox="1"/>
          <p:nvPr/>
        </p:nvSpPr>
        <p:spPr>
          <a:xfrm>
            <a:off x="5620062" y="1403657"/>
            <a:ext cx="3569700" cy="24408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Casual users spend more time on their trips, showing that they mainly ride for leisure.</a:t>
            </a:r>
            <a:br>
              <a:rPr b="1" lang="en-GB" sz="1800"/>
            </a:br>
            <a:r>
              <a:rPr b="1" lang="en-GB" sz="1800"/>
              <a:t> Members have shorter trips, which suggests regular daily use.</a:t>
            </a:r>
            <a:endParaRPr b="1"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1811163" y="292925"/>
            <a:ext cx="5257200" cy="72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700"/>
              <a:t>5-</a:t>
            </a:r>
            <a:r>
              <a:rPr lang="en-GB" sz="2700"/>
              <a:t> Are bike trips longer on weekends or weekdays?</a:t>
            </a:r>
            <a:endParaRPr sz="2700"/>
          </a:p>
        </p:txBody>
      </p:sp>
      <p:pic>
        <p:nvPicPr>
          <p:cNvPr id="124" name="Google Shape;124;p23" title="download.png"/>
          <p:cNvPicPr preferRelativeResize="0"/>
          <p:nvPr/>
        </p:nvPicPr>
        <p:blipFill>
          <a:blip r:embed="rId3">
            <a:alphaModFix/>
          </a:blip>
          <a:stretch>
            <a:fillRect/>
          </a:stretch>
        </p:blipFill>
        <p:spPr>
          <a:xfrm>
            <a:off x="310125" y="813675"/>
            <a:ext cx="4926375" cy="4236825"/>
          </a:xfrm>
          <a:prstGeom prst="rect">
            <a:avLst/>
          </a:prstGeom>
          <a:noFill/>
          <a:ln>
            <a:noFill/>
          </a:ln>
        </p:spPr>
      </p:pic>
      <p:sp>
        <p:nvSpPr>
          <p:cNvPr id="125" name="Google Shape;125;p23"/>
          <p:cNvSpPr txBox="1"/>
          <p:nvPr/>
        </p:nvSpPr>
        <p:spPr>
          <a:xfrm>
            <a:off x="5447700" y="1549200"/>
            <a:ext cx="3696300" cy="20451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Weekend trips had a higher average duration than weekday trips. This shows that riders spent more time cycling on weekends.</a:t>
            </a:r>
            <a:endParaRPr b="1"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1304250" y="254750"/>
            <a:ext cx="6535500" cy="71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300"/>
              <a:t>6- Which stations are most commonly used as both start and end stations?</a:t>
            </a:r>
            <a:endParaRPr sz="2300"/>
          </a:p>
        </p:txBody>
      </p:sp>
      <p:pic>
        <p:nvPicPr>
          <p:cNvPr id="131" name="Google Shape;131;p24" title="download.png"/>
          <p:cNvPicPr preferRelativeResize="0"/>
          <p:nvPr/>
        </p:nvPicPr>
        <p:blipFill>
          <a:blip r:embed="rId3">
            <a:alphaModFix/>
          </a:blip>
          <a:stretch>
            <a:fillRect/>
          </a:stretch>
        </p:blipFill>
        <p:spPr>
          <a:xfrm>
            <a:off x="267325" y="738300"/>
            <a:ext cx="5254201" cy="4172725"/>
          </a:xfrm>
          <a:prstGeom prst="rect">
            <a:avLst/>
          </a:prstGeom>
          <a:noFill/>
          <a:ln>
            <a:noFill/>
          </a:ln>
        </p:spPr>
      </p:pic>
      <p:sp>
        <p:nvSpPr>
          <p:cNvPr id="132" name="Google Shape;132;p24"/>
          <p:cNvSpPr txBox="1"/>
          <p:nvPr/>
        </p:nvSpPr>
        <p:spPr>
          <a:xfrm>
            <a:off x="5649150" y="1549200"/>
            <a:ext cx="3423300" cy="20451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1100"/>
              </a:spcBef>
              <a:spcAft>
                <a:spcPts val="1100"/>
              </a:spcAft>
              <a:buNone/>
            </a:pPr>
            <a:r>
              <a:rPr b="1" lang="en-GB" sz="1800"/>
              <a:t>Understanding station demand helps improve bike availability and ensures that bikes are placed where riders need them most.</a:t>
            </a:r>
            <a:endParaRPr b="1"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4311"/>
              <a:t>C</a:t>
            </a:r>
            <a:r>
              <a:rPr lang="en-GB" sz="4311"/>
              <a:t>onclusion :</a:t>
            </a:r>
            <a:endParaRPr sz="4311"/>
          </a:p>
        </p:txBody>
      </p:sp>
      <p:sp>
        <p:nvSpPr>
          <p:cNvPr id="138" name="Google Shape;138;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311150" lvl="0" marL="457200" rtl="0" algn="l">
              <a:spcBef>
                <a:spcPts val="1200"/>
              </a:spcBef>
              <a:spcAft>
                <a:spcPts val="0"/>
              </a:spcAft>
              <a:buClr>
                <a:srgbClr val="000000"/>
              </a:buClr>
              <a:buSzPts val="1300"/>
              <a:buFont typeface="Arial"/>
              <a:buChar char="●"/>
            </a:pPr>
            <a:r>
              <a:rPr lang="en-GB" sz="2000"/>
              <a:t>Bike demand showed clear variations across different times and stations, highlighting specific periods and locations with higher levels of activity.</a:t>
            </a:r>
            <a:endParaRPr sz="2000"/>
          </a:p>
          <a:p>
            <a:pPr indent="0" lvl="0" marL="0" rtl="0" algn="l">
              <a:spcBef>
                <a:spcPts val="1200"/>
              </a:spcBef>
              <a:spcAft>
                <a:spcPts val="0"/>
              </a:spcAft>
              <a:buNone/>
            </a:pPr>
            <a:r>
              <a:t/>
            </a:r>
            <a:endParaRPr sz="2000"/>
          </a:p>
          <a:p>
            <a:pPr indent="-311150" lvl="0" marL="457200" rtl="0" algn="l">
              <a:spcBef>
                <a:spcPts val="1200"/>
              </a:spcBef>
              <a:spcAft>
                <a:spcPts val="0"/>
              </a:spcAft>
              <a:buClr>
                <a:srgbClr val="000000"/>
              </a:buClr>
              <a:buSzPts val="1300"/>
              <a:buFont typeface="Arial"/>
              <a:buChar char="●"/>
            </a:pPr>
            <a:r>
              <a:rPr lang="en-GB" sz="2000"/>
              <a:t>Weather conditions also influenced daily bike usage, suggesting that external factors can affect overall demand throughout the year.</a:t>
            </a:r>
            <a:endParaRPr sz="2000"/>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400"/>
              </a:spcAft>
              <a:buNone/>
            </a:pPr>
            <a:r>
              <a:rPr lang="en-GB" sz="4311"/>
              <a:t>recommendation </a:t>
            </a:r>
            <a:r>
              <a:rPr lang="en-GB" sz="4311"/>
              <a:t>:</a:t>
            </a:r>
            <a:r>
              <a:rPr lang="en-GB" sz="2500">
                <a:solidFill>
                  <a:srgbClr val="000000"/>
                </a:solidFill>
                <a:latin typeface="Arial"/>
                <a:ea typeface="Arial"/>
                <a:cs typeface="Arial"/>
                <a:sym typeface="Arial"/>
              </a:rPr>
              <a:t> </a:t>
            </a:r>
            <a:endParaRPr sz="5400"/>
          </a:p>
        </p:txBody>
      </p:sp>
      <p:sp>
        <p:nvSpPr>
          <p:cNvPr id="144" name="Google Shape;144;p26"/>
          <p:cNvSpPr txBox="1"/>
          <p:nvPr>
            <p:ph idx="1" type="body"/>
          </p:nvPr>
        </p:nvSpPr>
        <p:spPr>
          <a:xfrm>
            <a:off x="311700" y="1960975"/>
            <a:ext cx="8832300" cy="2043300"/>
          </a:xfrm>
          <a:prstGeom prst="rect">
            <a:avLst/>
          </a:prstGeom>
        </p:spPr>
        <p:txBody>
          <a:bodyPr anchorCtr="0" anchor="t" bIns="91425" lIns="91425" spcFirstLastPara="1" rIns="91425" wrap="square" tIns="91425">
            <a:normAutofit fontScale="92500" lnSpcReduction="10000"/>
          </a:bodyPr>
          <a:lstStyle/>
          <a:p>
            <a:pPr indent="-357823" lvl="0" marL="457200" rtl="0" algn="l">
              <a:spcBef>
                <a:spcPts val="1200"/>
              </a:spcBef>
              <a:spcAft>
                <a:spcPts val="0"/>
              </a:spcAft>
              <a:buSzPct val="100000"/>
              <a:buChar char="●"/>
            </a:pPr>
            <a:r>
              <a:rPr lang="en-GB" sz="2200"/>
              <a:t>Increase</a:t>
            </a:r>
            <a:r>
              <a:rPr lang="en-GB" sz="2200"/>
              <a:t> bike </a:t>
            </a:r>
            <a:r>
              <a:rPr lang="en-GB" sz="2200"/>
              <a:t>availability</a:t>
            </a:r>
            <a:r>
              <a:rPr lang="en-GB" sz="2200"/>
              <a:t> at high-demand stations</a:t>
            </a:r>
            <a:endParaRPr sz="2200"/>
          </a:p>
          <a:p>
            <a:pPr indent="-357823" lvl="0" marL="457200" rtl="0" algn="l">
              <a:spcBef>
                <a:spcPts val="0"/>
              </a:spcBef>
              <a:spcAft>
                <a:spcPts val="0"/>
              </a:spcAft>
              <a:buSzPct val="100000"/>
              <a:buChar char="●"/>
            </a:pPr>
            <a:r>
              <a:rPr lang="en-GB" sz="2200"/>
              <a:t>Add more bikes during peak hours. </a:t>
            </a:r>
            <a:endParaRPr sz="2200"/>
          </a:p>
          <a:p>
            <a:pPr indent="-357823" lvl="0" marL="457200" rtl="0" algn="l">
              <a:spcBef>
                <a:spcPts val="0"/>
              </a:spcBef>
              <a:spcAft>
                <a:spcPts val="0"/>
              </a:spcAft>
              <a:buSzPct val="100000"/>
              <a:buChar char="●"/>
            </a:pPr>
            <a:r>
              <a:rPr lang="en-GB" sz="2200"/>
              <a:t>Consider weather when planning bike availability</a:t>
            </a:r>
            <a:endParaRPr sz="2200"/>
          </a:p>
          <a:p>
            <a:pPr indent="0" lvl="0" marL="0" rtl="0" algn="l">
              <a:spcBef>
                <a:spcPts val="1200"/>
              </a:spcBef>
              <a:spcAft>
                <a:spcPts val="0"/>
              </a:spcAft>
              <a:buNone/>
            </a:pPr>
            <a:r>
              <a:t/>
            </a:r>
            <a:endParaRPr sz="2000"/>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292850"/>
            <a:ext cx="3028500" cy="93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4756"/>
              <a:t>N</a:t>
            </a:r>
            <a:r>
              <a:rPr lang="en-GB" sz="4756"/>
              <a:t>ext Step:</a:t>
            </a:r>
            <a:r>
              <a:rPr lang="en-GB"/>
              <a:t> </a:t>
            </a:r>
            <a:endParaRPr/>
          </a:p>
        </p:txBody>
      </p:sp>
      <p:sp>
        <p:nvSpPr>
          <p:cNvPr id="150" name="Google Shape;150;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rgbClr val="000000"/>
              </a:buClr>
              <a:buSzPts val="1300"/>
              <a:buFont typeface="Arial"/>
              <a:buChar char="●"/>
            </a:pPr>
            <a:r>
              <a:rPr lang="en-GB" sz="2000"/>
              <a:t>Further analysis could explore user types, trip duration, and station usage to identify different usage patterns.</a:t>
            </a:r>
            <a:endParaRPr sz="2000"/>
          </a:p>
          <a:p>
            <a:pPr indent="0" lvl="0" marL="0" rtl="0" algn="l">
              <a:spcBef>
                <a:spcPts val="1200"/>
              </a:spcBef>
              <a:spcAft>
                <a:spcPts val="0"/>
              </a:spcAft>
              <a:buNone/>
            </a:pPr>
            <a:r>
              <a:t/>
            </a:r>
            <a:endParaRPr sz="2000"/>
          </a:p>
          <a:p>
            <a:pPr indent="-311150" lvl="0" marL="457200" rtl="0" algn="l">
              <a:spcBef>
                <a:spcPts val="1200"/>
              </a:spcBef>
              <a:spcAft>
                <a:spcPts val="0"/>
              </a:spcAft>
              <a:buClr>
                <a:srgbClr val="000000"/>
              </a:buClr>
              <a:buSzPts val="1300"/>
              <a:buFont typeface="Arial"/>
              <a:buChar char="●"/>
            </a:pPr>
            <a:r>
              <a:rPr lang="en-GB" sz="2000"/>
              <a:t>These insights could support better bike availability and more efficient station planning.</a:t>
            </a:r>
            <a:endParaRPr sz="2000"/>
          </a:p>
          <a:p>
            <a:pPr indent="0" lvl="0" marL="0" rtl="0" algn="l">
              <a:spcBef>
                <a:spcPts val="1200"/>
              </a:spcBef>
              <a:spcAft>
                <a:spcPts val="120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